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A2A4F"/>
                </a:solidFill>
                <a:latin typeface="Calibri"/>
              </a:rPr>
              <a:t>Land off Broadway Hill, Horton, Ilminster, TA19 9QU — Borrower Structure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45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4A4A4A"/>
                </a:solidFill>
                <a:latin typeface="Calibri"/>
              </a:rPr>
              <a:t>Prepared by RockCap   |   11/05/2026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09847" y="1097280"/>
            <a:ext cx="4572000" cy="868680"/>
          </a:xfrm>
          <a:prstGeom prst="roundRect">
            <a:avLst/>
          </a:prstGeom>
          <a:solidFill>
            <a:srgbClr val="D9E2EC"/>
          </a:solidFill>
          <a:ln w="12700">
            <a:solidFill>
              <a:srgbClr val="0A2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>
                <a:solidFill>
                  <a:srgbClr val="0A2A4F"/>
                </a:solidFill>
                <a:latin typeface="Calibri"/>
              </a:rPr>
              <a:t>GALION (HORTON) LIMITED</a:t>
            </a:r>
          </a:p>
          <a:p>
            <a:pPr algn="ctr"/>
            <a:r>
              <a:rPr sz="1000">
                <a:solidFill>
                  <a:srgbClr val="0A2A4F"/>
                </a:solidFill>
                <a:latin typeface="Calibri"/>
              </a:rPr>
              <a:t>Co. 13614094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9847" y="2834640"/>
            <a:ext cx="4572000" cy="868680"/>
          </a:xfrm>
          <a:prstGeom prst="roundRect">
            <a:avLst/>
          </a:prstGeom>
          <a:solidFill>
            <a:srgbClr val="D9E2EC"/>
          </a:solidFill>
          <a:ln w="12700">
            <a:solidFill>
              <a:srgbClr val="0A2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>
                <a:solidFill>
                  <a:srgbClr val="0A2A4F"/>
                </a:solidFill>
                <a:latin typeface="Calibri"/>
              </a:rPr>
              <a:t>GALION LAND LIMITED</a:t>
            </a:r>
          </a:p>
          <a:p>
            <a:pPr algn="ctr"/>
            <a:r>
              <a:rPr sz="1000">
                <a:solidFill>
                  <a:srgbClr val="0A2A4F"/>
                </a:solidFill>
                <a:latin typeface="Calibri"/>
              </a:rPr>
              <a:t>Co. 12595863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09847" y="4572000"/>
            <a:ext cx="4572000" cy="868680"/>
          </a:xfrm>
          <a:prstGeom prst="roundRect">
            <a:avLst/>
          </a:prstGeom>
          <a:solidFill>
            <a:srgbClr val="D9E2EC"/>
          </a:solidFill>
          <a:ln w="12700">
            <a:solidFill>
              <a:srgbClr val="0A2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>
                <a:solidFill>
                  <a:srgbClr val="0A2A4F"/>
                </a:solidFill>
                <a:latin typeface="Calibri"/>
              </a:rPr>
              <a:t>GALION GROUP LIMITED</a:t>
            </a:r>
          </a:p>
          <a:p>
            <a:pPr algn="ctr"/>
            <a:r>
              <a:rPr sz="1000">
                <a:solidFill>
                  <a:srgbClr val="0A2A4F"/>
                </a:solidFill>
                <a:latin typeface="Calibri"/>
              </a:rPr>
              <a:t>Co. 12595749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09847" y="5852160"/>
            <a:ext cx="4572000" cy="685800"/>
          </a:xfrm>
          <a:prstGeom prst="roundRect">
            <a:avLst/>
          </a:prstGeom>
          <a:solidFill>
            <a:srgbClr val="D9E2EC"/>
          </a:solidFill>
          <a:ln w="12700">
            <a:solidFill>
              <a:srgbClr val="0A2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>
                <a:solidFill>
                  <a:srgbClr val="0A2A4F"/>
                </a:solidFill>
                <a:latin typeface="Calibri"/>
              </a:rPr>
              <a:t>MR ANGUS CRAWFORD MACDONALD</a:t>
            </a:r>
          </a:p>
          <a:p>
            <a:pPr algn="ctr"/>
            <a:r>
              <a:rPr sz="1000">
                <a:solidFill>
                  <a:srgbClr val="0A2A4F"/>
                </a:solidFill>
                <a:latin typeface="Calibri"/>
              </a:rPr>
              <a:t>Ultimate beneficial owner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5847" y="1965960"/>
            <a:ext cx="0" cy="868680"/>
          </a:xfrm>
          <a:prstGeom prst="line">
            <a:avLst/>
          </a:prstGeom>
          <a:ln w="12700">
            <a:solidFill>
              <a:srgbClr val="0A2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730087" y="2299716"/>
            <a:ext cx="7315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0A2A4F"/>
                </a:solidFill>
                <a:latin typeface="Calibri"/>
              </a:rPr>
              <a:t>100%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5847" y="3703320"/>
            <a:ext cx="0" cy="868680"/>
          </a:xfrm>
          <a:prstGeom prst="line">
            <a:avLst/>
          </a:prstGeom>
          <a:ln w="12700">
            <a:solidFill>
              <a:srgbClr val="0A2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730087" y="4037076"/>
            <a:ext cx="7315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0A2A4F"/>
                </a:solidFill>
                <a:latin typeface="Calibri"/>
              </a:rPr>
              <a:t>100%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5847" y="5440680"/>
            <a:ext cx="0" cy="411480"/>
          </a:xfrm>
          <a:prstGeom prst="line">
            <a:avLst/>
          </a:prstGeom>
          <a:ln w="12700">
            <a:solidFill>
              <a:srgbClr val="0A2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730087" y="5545836"/>
            <a:ext cx="7315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0A2A4F"/>
                </a:solidFill>
                <a:latin typeface="Calibri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601968"/>
            <a:ext cx="112745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4A4A4A"/>
                </a:solidFill>
                <a:latin typeface="Calibri"/>
              </a:rPr>
              <a:t>Source: Companies House PSC register. Galion (Horton) Ltd ← Galion Land Ltd ← Galion Group Ltd ← Mr Macdonald (100% UBO).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