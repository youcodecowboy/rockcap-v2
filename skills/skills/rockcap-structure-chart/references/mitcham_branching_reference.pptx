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EEF6D-B882-449D-9179-A828D34E54B7}" v="2" dt="2026-04-28T06:25:05.6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n Smid" userId="b228e072b3ccc38d" providerId="LiveId" clId="{C5CC9622-CE14-4974-88D1-AD4DBBA07CF2}"/>
    <pc:docChg chg="modSld">
      <pc:chgData name="Rayn Smid" userId="b228e072b3ccc38d" providerId="LiveId" clId="{C5CC9622-CE14-4974-88D1-AD4DBBA07CF2}" dt="2026-04-28T06:25:17.960" v="7" actId="1076"/>
      <pc:docMkLst>
        <pc:docMk/>
      </pc:docMkLst>
      <pc:sldChg chg="modSp mod">
        <pc:chgData name="Rayn Smid" userId="b228e072b3ccc38d" providerId="LiveId" clId="{C5CC9622-CE14-4974-88D1-AD4DBBA07CF2}" dt="2026-04-28T06:25:17.960" v="7" actId="1076"/>
        <pc:sldMkLst>
          <pc:docMk/>
          <pc:sldMk cId="0" sldId="256"/>
        </pc:sldMkLst>
        <pc:spChg chg="mod">
          <ac:chgData name="Rayn Smid" userId="b228e072b3ccc38d" providerId="LiveId" clId="{C5CC9622-CE14-4974-88D1-AD4DBBA07CF2}" dt="2026-04-28T06:25:03.392" v="3" actId="205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Rayn Smid" userId="b228e072b3ccc38d" providerId="LiveId" clId="{C5CC9622-CE14-4974-88D1-AD4DBBA07CF2}" dt="2026-04-28T06:25:17.960" v="7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ayn Smid" userId="b228e072b3ccc38d" providerId="LiveId" clId="{C5CC9622-CE14-4974-88D1-AD4DBBA07CF2}" dt="2026-04-28T06:24:49.557" v="0" actId="1076"/>
          <ac:spMkLst>
            <pc:docMk/>
            <pc:sldMk cId="0" sldId="256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900" b="1">
                <a:solidFill>
                  <a:srgbClr val="0A2A4F"/>
                </a:solidFill>
                <a:latin typeface="Calibri"/>
              </a:rPr>
              <a:t>192 London Road / Bond Road, Mitcham, CR4 3LD - Borrower Structure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i="1">
                <a:solidFill>
                  <a:srgbClr val="4A4A4A"/>
                </a:solidFill>
                <a:latin typeface="Calibri"/>
              </a:rPr>
              <a:t>Pallas Capital credit submission   |   Prepared by RockCap   |   28/04/2026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7116" y="1005840"/>
            <a:ext cx="3474720" cy="822960"/>
          </a:xfrm>
          <a:prstGeom prst="roundRect">
            <a:avLst>
              <a:gd name="adj" fmla="val 12000"/>
            </a:avLst>
          </a:prstGeom>
          <a:solidFill>
            <a:srgbClr val="0A2A4F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PALLAS CAPITAL LTD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Senior development facility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First charge over both land parcels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05356" y="2286000"/>
            <a:ext cx="4206240" cy="1554480"/>
          </a:xfrm>
          <a:prstGeom prst="roundRect">
            <a:avLst>
              <a:gd name="adj" fmla="val 12000"/>
            </a:avLst>
          </a:prstGeom>
          <a:solidFill>
            <a:srgbClr val="0A2A4F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INFINITY SQUARE (BOND ROAD) LTD</a:t>
            </a:r>
          </a:p>
          <a:p>
            <a:pPr algn="ctr"/>
            <a:r>
              <a:rPr sz="900" dirty="0">
                <a:solidFill>
                  <a:srgbClr val="FFFFFF"/>
                </a:solidFill>
                <a:latin typeface="Calibri"/>
              </a:rPr>
              <a:t>Co. 17169299   |   Reg: 48 Ullswater Crescent, SW15 3RQ</a:t>
            </a:r>
          </a:p>
          <a:p>
            <a:pPr algn="ctr"/>
            <a:r>
              <a:rPr sz="900" dirty="0">
                <a:solidFill>
                  <a:srgbClr val="FFFFFF"/>
                </a:solidFill>
                <a:latin typeface="Calibri"/>
              </a:rPr>
              <a:t>SOLE BORROWER</a:t>
            </a:r>
          </a:p>
          <a:p>
            <a:pPr algn="ctr"/>
            <a:r>
              <a:rPr sz="900" dirty="0">
                <a:solidFill>
                  <a:srgbClr val="FFFFFF"/>
                </a:solidFill>
                <a:latin typeface="Calibri"/>
              </a:rPr>
              <a:t>Acquires apartment land (8 flats portion)</a:t>
            </a:r>
          </a:p>
          <a:p>
            <a:pPr algn="ctr"/>
            <a:r>
              <a:rPr sz="900" dirty="0">
                <a:solidFill>
                  <a:srgbClr val="FFFFFF"/>
                </a:solidFill>
                <a:latin typeface="Calibri"/>
              </a:rPr>
              <a:t>Grants Pallas first charge over its land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7356" y="2286000"/>
            <a:ext cx="4206240" cy="1554480"/>
          </a:xfrm>
          <a:prstGeom prst="roundRect">
            <a:avLst>
              <a:gd name="adj" fmla="val 12000"/>
            </a:avLst>
          </a:prstGeom>
          <a:solidFill>
            <a:srgbClr val="D9E2EC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100" b="1">
                <a:solidFill>
                  <a:srgbClr val="0A2A4F"/>
                </a:solidFill>
                <a:latin typeface="Calibri"/>
              </a:rPr>
              <a:t>LONDON ROAD RESIDENTIAL LIMITED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Co. 15954381   |   Reg: Myrtle Cottage, Royden Lane, Boldre, SO41 8PJ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THIRD-PARTY CHARGOR (not a borrower)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Holds HMO land (10-bedroom HMO portion)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Grants Pallas first charge as third-party security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808476" y="1828800"/>
            <a:ext cx="2286000" cy="457200"/>
          </a:xfrm>
          <a:prstGeom prst="line">
            <a:avLst/>
          </a:prstGeom>
          <a:ln w="15875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77156" y="1947672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2A4F"/>
                </a:solidFill>
                <a:latin typeface="Calibri"/>
              </a:rPr>
              <a:t>Loan + 1st charge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4476" y="1828800"/>
            <a:ext cx="2286000" cy="457200"/>
          </a:xfrm>
          <a:prstGeom prst="line">
            <a:avLst/>
          </a:prstGeom>
          <a:ln w="15875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63156" y="1947672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2A4F"/>
                </a:solidFill>
                <a:latin typeface="Calibri"/>
              </a:rPr>
              <a:t>1st charge (3rd-party)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1596" y="3063240"/>
            <a:ext cx="365760" cy="0"/>
          </a:xfrm>
          <a:prstGeom prst="line">
            <a:avLst/>
          </a:prstGeom>
          <a:ln w="15875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56792" y="3012459"/>
            <a:ext cx="875240" cy="153888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latin typeface="Calibri"/>
              </a:rPr>
              <a:t>Security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475488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D9E2EC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100" b="1">
                <a:solidFill>
                  <a:srgbClr val="0A2A4F"/>
                </a:solidFill>
                <a:latin typeface="Calibri"/>
              </a:rPr>
              <a:t>RAMSEY AMMAR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Director   |   Shareholder   |   Guarantor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100% shareholder of Infinity Square (Bond Road) Ltd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Operating co: Rivvers Property Services Ltd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Co. 9009006 (appointed contractor on the build)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08476" y="3840480"/>
            <a:ext cx="0" cy="914400"/>
          </a:xfrm>
          <a:prstGeom prst="line">
            <a:avLst/>
          </a:prstGeom>
          <a:ln w="15875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34156" y="4187952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2A4F"/>
                </a:solidFill>
                <a:latin typeface="Calibri"/>
              </a:rPr>
              <a:t>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9996" y="4754880"/>
            <a:ext cx="3749040" cy="1554480"/>
          </a:xfrm>
          <a:prstGeom prst="roundRect">
            <a:avLst>
              <a:gd name="adj" fmla="val 12000"/>
            </a:avLst>
          </a:prstGeom>
          <a:solidFill>
            <a:srgbClr val="D9E2EC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100" b="1">
                <a:solidFill>
                  <a:srgbClr val="0A2A4F"/>
                </a:solidFill>
                <a:latin typeface="Calibri"/>
              </a:rPr>
              <a:t>JAMIE RONALD STOCKS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Director   |   Shareholder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50% shareholder of London Road Residential Ltd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Signs the charge with ILA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Operating brand: Lucien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1916" y="4754880"/>
            <a:ext cx="3749040" cy="1554480"/>
          </a:xfrm>
          <a:prstGeom prst="roundRect">
            <a:avLst>
              <a:gd name="adj" fmla="val 12000"/>
            </a:avLst>
          </a:prstGeom>
          <a:solidFill>
            <a:srgbClr val="D9E2EC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100" b="1">
                <a:solidFill>
                  <a:srgbClr val="0A2A4F"/>
                </a:solidFill>
                <a:latin typeface="Calibri"/>
              </a:rPr>
              <a:t>JOSEPH PURCELL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Director   |   Shareholder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50% shareholder of London Road Residential Ltd</a:t>
            </a:r>
          </a:p>
          <a:p>
            <a:pPr algn="ctr"/>
            <a:r>
              <a:rPr sz="900">
                <a:solidFill>
                  <a:srgbClr val="0A2A4F"/>
                </a:solidFill>
                <a:latin typeface="Calibri"/>
              </a:rPr>
              <a:t>Signs the charge with ILA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414516" y="3840480"/>
            <a:ext cx="1965960" cy="914400"/>
          </a:xfrm>
          <a:prstGeom prst="line">
            <a:avLst/>
          </a:prstGeom>
          <a:ln w="15875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23176" y="4187952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2A4F"/>
                </a:solidFill>
                <a:latin typeface="Calibri"/>
              </a:rPr>
              <a:t>50%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80476" y="3840480"/>
            <a:ext cx="1965960" cy="914400"/>
          </a:xfrm>
          <a:prstGeom prst="line">
            <a:avLst/>
          </a:prstGeom>
          <a:ln w="15875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89136" y="4187952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2A4F"/>
                </a:solidFill>
                <a:latin typeface="Calibri"/>
              </a:rPr>
              <a:t>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>
                <a:solidFill>
                  <a:srgbClr val="4A4A4A"/>
                </a:solidFill>
                <a:latin typeface="Calibri"/>
              </a:rPr>
              <a:t>Infinity Square (Bond Road) Ltd is the sole borrower. London Road Residential Ltd grants Pallas first charge over its land as third-party security only. Existing CA bridge of 195k GBP is refinanced by the Pallas facility. On completion, Ramsey retains the 8 flats; Jamie and Joe retain the 10-bedroom HMO.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Rayn Smid</cp:lastModifiedBy>
  <cp:revision>1</cp:revision>
  <dcterms:created xsi:type="dcterms:W3CDTF">2013-01-27T09:14:16Z</dcterms:created>
  <dcterms:modified xsi:type="dcterms:W3CDTF">2026-04-28T06:25:23Z</dcterms:modified>
  <cp:category/>
</cp:coreProperties>
</file>